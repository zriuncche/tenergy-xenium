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"/>
  </p:notesMasterIdLst>
  <p:sldIdLst>
    <p:sldId id="813" r:id="rId3"/>
    <p:sldId id="290" r:id="rId4"/>
    <p:sldId id="281" r:id="rId5"/>
    <p:sldId id="818" r:id="rId6"/>
    <p:sldId id="815" r:id="rId7"/>
    <p:sldId id="819" r:id="rId8"/>
    <p:sldId id="814" r:id="rId9"/>
    <p:sldId id="816" r:id="rId10"/>
    <p:sldId id="820" r:id="rId11"/>
    <p:sldId id="817" r:id="rId12"/>
    <p:sldId id="821" r:id="rId13"/>
    <p:sldId id="822" r:id="rId14"/>
    <p:sldId id="823" r:id="rId15"/>
  </p:sldIdLst>
  <p:sldSz cx="10799763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210" y="72"/>
      </p:cViewPr>
      <p:guideLst>
        <p:guide orient="horz" pos="2160"/>
        <p:guide pos="3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89CC5-C28C-447F-8367-B6B8C18800D6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98538" y="1143000"/>
            <a:ext cx="48609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1D9E25-FAA8-4CB5-B9DD-164E35D61E1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2389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88250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6FB2E2-E7BF-4222-8D90-5E0FC9E932A0}" type="slidenum">
              <a:rPr kumimoji="1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" pitchFamily="18" charset="0"/>
                <a:ea typeface="ＭＳ ゴシック" pitchFamily="49" charset="-128"/>
                <a:cs typeface="+mn-cs"/>
              </a:rPr>
              <a:pPr marL="0" marR="0" lvl="0" indent="0" algn="r" defTabSz="88250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ja-JP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" pitchFamily="18" charset="0"/>
              <a:ea typeface="ＭＳ ゴシック" pitchFamily="49" charset="-128"/>
              <a:cs typeface="+mn-cs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63863" y="511175"/>
            <a:ext cx="4016375" cy="2551113"/>
          </a:xfrm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3153916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809982" y="2130426"/>
            <a:ext cx="9179799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619965" y="3886200"/>
            <a:ext cx="755983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8144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57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53107" y="4406901"/>
            <a:ext cx="917979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53107" y="2906713"/>
            <a:ext cx="917979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497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39988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489880" y="1600201"/>
            <a:ext cx="476989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2483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939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5645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981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14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99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323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829828" y="274639"/>
            <a:ext cx="2429947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39988" y="274639"/>
            <a:ext cx="7109844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859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799961" y="404813"/>
            <a:ext cx="8459814" cy="2736850"/>
          </a:xfrm>
        </p:spPr>
        <p:txBody>
          <a:bodyPr anchor="b"/>
          <a:lstStyle>
            <a:lvl1pPr>
              <a:defRPr sz="3200">
                <a:solidFill>
                  <a:srgbClr val="622405"/>
                </a:solidFill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799961" y="3429001"/>
            <a:ext cx="8369816" cy="2879725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rgbClr val="622405"/>
                </a:solidFill>
              </a:defRPr>
            </a:lvl1pPr>
          </a:lstStyle>
          <a:p>
            <a:r>
              <a:rPr lang="ja-JP" altLang="en-US" dirty="0"/>
              <a:t>マスタ サブタイトルの書式設定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1529966" y="6453188"/>
            <a:ext cx="2249951" cy="457200"/>
          </a:xfrm>
        </p:spPr>
        <p:txBody>
          <a:bodyPr/>
          <a:lstStyle>
            <a:lvl1pPr>
              <a:defRPr sz="1400">
                <a:solidFill>
                  <a:srgbClr val="622405"/>
                </a:solidFill>
              </a:defRPr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4229907" y="6453188"/>
            <a:ext cx="3419925" cy="457200"/>
          </a:xfrm>
        </p:spPr>
        <p:txBody>
          <a:bodyPr/>
          <a:lstStyle>
            <a:lvl1pPr>
              <a:defRPr sz="1400">
                <a:solidFill>
                  <a:srgbClr val="622405"/>
                </a:solidFill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099822" y="6453188"/>
            <a:ext cx="2249951" cy="457200"/>
          </a:xfrm>
        </p:spPr>
        <p:txBody>
          <a:bodyPr/>
          <a:lstStyle>
            <a:lvl1pPr>
              <a:defRPr sz="1400" b="0">
                <a:solidFill>
                  <a:srgbClr val="622405"/>
                </a:solidFill>
              </a:defRPr>
            </a:lvl1pPr>
          </a:lstStyle>
          <a:p>
            <a:pPr>
              <a:defRPr/>
            </a:pPr>
            <a:fld id="{31A83D48-9FDB-4051-AAC8-8C4A43DE6EC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74143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fld id="{AEF5B3C9-0EB2-4736-84C6-D4EEEC7924EF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83294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53107" y="2354958"/>
            <a:ext cx="9179799" cy="1362075"/>
          </a:xfrm>
        </p:spPr>
        <p:txBody>
          <a:bodyPr anchor="t"/>
          <a:lstStyle>
            <a:lvl1pPr algn="ctr">
              <a:defRPr sz="4400" b="1" cap="none" baseline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853107" y="3717032"/>
            <a:ext cx="9179799" cy="689868"/>
          </a:xfrm>
        </p:spPr>
        <p:txBody>
          <a:bodyPr anchor="b"/>
          <a:lstStyle>
            <a:lvl1pPr marL="0" indent="0" algn="ctr">
              <a:buNone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dirty="0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r>
              <a:rPr lang="en-US" altLang="ja-JP"/>
              <a:t>2017/7/22</a:t>
            </a:r>
            <a:endParaRPr lang="en-US" altLang="ja-JP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fld id="{F1C44F41-C148-498D-A4BA-E2067D662FA8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736972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21860" y="1196975"/>
            <a:ext cx="4756770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658626" y="1196975"/>
            <a:ext cx="4758646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43634-5C40-45B0-8DCF-348DE17A3A6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39393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39988" y="1535113"/>
            <a:ext cx="47717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39988" y="2174875"/>
            <a:ext cx="47717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486130" y="1535113"/>
            <a:ext cx="477364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486130" y="2174875"/>
            <a:ext cx="477364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56EA34-1DBE-45B0-AD00-970A9D7C715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54159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48E0FA-3627-4386-86E7-E11B82E06F9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456848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5BDD7E-6B5B-4261-97FE-DC791FE025D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23431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39989" y="273050"/>
            <a:ext cx="355304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222407" y="273051"/>
            <a:ext cx="60373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39989" y="1435101"/>
            <a:ext cx="355304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6FAC28-EB54-48A3-B72C-5332F5C782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20628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116829" y="4800600"/>
            <a:ext cx="647985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2116829" y="612775"/>
            <a:ext cx="647985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2116829" y="5367338"/>
            <a:ext cx="647985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2305B-B9A3-49F9-94B9-B0DADBB1ED85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279102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F491F8-BB08-45FB-852C-4DADE3B11B1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74774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994824" y="188913"/>
            <a:ext cx="2422447" cy="6119812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21860" y="188913"/>
            <a:ext cx="7092969" cy="6119812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B64596-CF12-4E4B-9F60-06533CB1397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354262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タイトルと 4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sz="quarter"/>
          </p:nvPr>
        </p:nvSpPr>
        <p:spPr>
          <a:xfrm>
            <a:off x="399992" y="228600"/>
            <a:ext cx="10079779" cy="68580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quarter" idx="1"/>
          </p:nvPr>
        </p:nvSpPr>
        <p:spPr>
          <a:xfrm>
            <a:off x="719985" y="990600"/>
            <a:ext cx="4719897" cy="2590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5599877" y="990600"/>
            <a:ext cx="4719897" cy="2590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719985" y="3733800"/>
            <a:ext cx="4719897" cy="2590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599877" y="3733800"/>
            <a:ext cx="4719897" cy="2590800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1" name="スライド番号プレースホルダ 6"/>
          <p:cNvSpPr>
            <a:spLocks noGrp="1"/>
          </p:cNvSpPr>
          <p:nvPr>
            <p:ph type="sldNum" sz="quarter" idx="10"/>
          </p:nvPr>
        </p:nvSpPr>
        <p:spPr>
          <a:xfrm>
            <a:off x="10087279" y="6524625"/>
            <a:ext cx="680611" cy="28733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F7B3F-9135-4CB0-8634-5F2870C21C90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106609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539988" y="274638"/>
            <a:ext cx="971978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39988" y="1600201"/>
            <a:ext cx="971978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539988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05B9A-6A39-4251-BB6A-7F86F78F6284}" type="datetimeFigureOut">
              <a:rPr kumimoji="1" lang="ja-JP" altLang="en-US" smtClean="0"/>
              <a:t>2026/10/8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689919" y="6356351"/>
            <a:ext cx="34199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7739830" y="6356351"/>
            <a:ext cx="25199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74D2E-7237-447E-A28B-7926EF6996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158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21860" y="188914"/>
            <a:ext cx="9179799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21860" y="1196975"/>
            <a:ext cx="9695412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8744" y="6354763"/>
            <a:ext cx="224995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r>
              <a:rPr lang="en-US" altLang="ja-JP"/>
              <a:t>2017/7/22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89919" y="6597650"/>
            <a:ext cx="3419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37942" y="6237288"/>
            <a:ext cx="2249951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800" b="1">
                <a:solidFill>
                  <a:srgbClr val="000066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pPr>
              <a:defRPr/>
            </a:pPr>
            <a:fld id="{5FA603D4-375E-4294-91BD-F40441079D08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58873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2pPr>
      <a:lvl3pPr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3pPr>
      <a:lvl4pPr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4pPr>
      <a:lvl5pPr algn="l" rtl="0" eaLnBrk="0" fontAlgn="base" hangingPunct="0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5pPr>
      <a:lvl6pPr marL="457200" algn="l" rtl="0" fontAlgn="base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6pPr>
      <a:lvl7pPr marL="914400" algn="l" rtl="0" fontAlgn="base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7pPr>
      <a:lvl8pPr marL="1371600" algn="l" rtl="0" fontAlgn="base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8pPr>
      <a:lvl9pPr marL="1828800" algn="l" rtl="0" fontAlgn="base">
        <a:lnSpc>
          <a:spcPct val="140000"/>
        </a:lnSpc>
        <a:spcBef>
          <a:spcPct val="0"/>
        </a:spcBef>
        <a:spcAft>
          <a:spcPct val="0"/>
        </a:spcAft>
        <a:defRPr kumimoji="1" sz="2800" b="1">
          <a:solidFill>
            <a:srgbClr val="212164"/>
          </a:solidFill>
          <a:latin typeface="Comic Sans MS" pitchFamily="66" charset="0"/>
          <a:ea typeface="HG丸ｺﾞｼｯｸM-PRO" pitchFamily="50" charset="-128"/>
        </a:defRPr>
      </a:lvl9pPr>
    </p:titleStyle>
    <p:bodyStyle>
      <a:lvl1pPr marL="342900" indent="-3429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kumimoji="1" sz="2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1pPr>
      <a:lvl2pPr marL="742950" indent="-28575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2pPr>
      <a:lvl3pPr marL="11430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3pPr>
      <a:lvl4pPr marL="16002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–"/>
        <a:defRPr kumimoji="1" sz="17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4pPr>
      <a:lvl5pPr marL="2057400" indent="-228600" algn="l" rtl="0" eaLnBrk="0" fontAlgn="base" hangingPunct="0">
        <a:lnSpc>
          <a:spcPct val="130000"/>
        </a:lnSpc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メイリオ" panose="020B0604030504040204" pitchFamily="50" charset="-128"/>
        </a:defRPr>
      </a:lvl5pPr>
      <a:lvl6pPr marL="25146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30000"/>
        </a:lnSpc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51411" y="1251656"/>
            <a:ext cx="8459787" cy="2305358"/>
          </a:xfrm>
        </p:spPr>
        <p:txBody>
          <a:bodyPr/>
          <a:lstStyle/>
          <a:p>
            <a:pPr algn="ctr" eaLnBrk="1" hangingPunct="1">
              <a:lnSpc>
                <a:spcPct val="120000"/>
              </a:lnSpc>
              <a:tabLst>
                <a:tab pos="3749370" algn="l"/>
              </a:tabLst>
            </a:pPr>
            <a:r>
              <a:rPr lang="en-US" altLang="ja-JP" sz="4000" dirty="0">
                <a:solidFill>
                  <a:schemeClr val="tx1"/>
                </a:solidFill>
              </a:rPr>
              <a:t>TENERGY</a:t>
            </a:r>
            <a:r>
              <a:rPr lang="ja-JP" altLang="en-US" sz="4000" dirty="0">
                <a:solidFill>
                  <a:schemeClr val="tx1"/>
                </a:solidFill>
              </a:rPr>
              <a:t> 長期</a:t>
            </a:r>
            <a:r>
              <a:rPr lang="en-US" altLang="ja-JP" sz="4000" dirty="0">
                <a:solidFill>
                  <a:schemeClr val="tx1"/>
                </a:solidFill>
              </a:rPr>
              <a:t>follow-up</a:t>
            </a:r>
            <a:r>
              <a:rPr lang="ja-JP" altLang="en-US" sz="4000" dirty="0">
                <a:solidFill>
                  <a:schemeClr val="tx1"/>
                </a:solidFill>
              </a:rPr>
              <a:t>データ</a:t>
            </a:r>
            <a:br>
              <a:rPr lang="en-US" altLang="ja-JP" sz="4000" dirty="0">
                <a:solidFill>
                  <a:schemeClr val="tx1"/>
                </a:solidFill>
              </a:rPr>
            </a:br>
            <a:r>
              <a:rPr lang="ja-JP" altLang="en-US" sz="4000" dirty="0">
                <a:solidFill>
                  <a:schemeClr val="tx1"/>
                </a:solidFill>
              </a:rPr>
              <a:t>解析レポート </a:t>
            </a:r>
            <a:r>
              <a:rPr lang="en-US" altLang="ja-JP" sz="4000" dirty="0">
                <a:solidFill>
                  <a:schemeClr val="tx1"/>
                </a:solidFill>
              </a:rPr>
              <a:t>draft3</a:t>
            </a:r>
            <a:br>
              <a:rPr lang="en-US" altLang="ja-JP" sz="4000" dirty="0">
                <a:solidFill>
                  <a:schemeClr val="tx1"/>
                </a:solidFill>
              </a:rPr>
            </a:br>
            <a:endParaRPr lang="ja-JP" altLang="en-US" sz="1778" b="0" dirty="0">
              <a:solidFill>
                <a:schemeClr val="tx1"/>
              </a:solidFill>
            </a:endParaRPr>
          </a:p>
        </p:txBody>
      </p:sp>
      <p:sp>
        <p:nvSpPr>
          <p:cNvPr id="16386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655467" y="3749035"/>
            <a:ext cx="7345363" cy="2432756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ja-JP" sz="3022" b="1" dirty="0">
                <a:solidFill>
                  <a:schemeClr val="tx1"/>
                </a:solidFill>
              </a:rPr>
              <a:t>Stat</a:t>
            </a:r>
            <a:r>
              <a:rPr lang="ja-JP" altLang="en-US" sz="3022" b="1" dirty="0">
                <a:solidFill>
                  <a:schemeClr val="tx1"/>
                </a:solidFill>
              </a:rPr>
              <a:t>グループ</a:t>
            </a:r>
            <a:endParaRPr lang="en-US" altLang="ja-JP" sz="3022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ja-JP" altLang="en-US" sz="3022" b="1" dirty="0">
                <a:solidFill>
                  <a:schemeClr val="tx1"/>
                </a:solidFill>
              </a:rPr>
              <a:t>若林 将史</a:t>
            </a:r>
          </a:p>
          <a:p>
            <a:pPr eaLnBrk="1" hangingPunct="1">
              <a:lnSpc>
                <a:spcPct val="110000"/>
              </a:lnSpc>
            </a:pPr>
            <a:endParaRPr lang="ja-JP" altLang="en-US" sz="1244" dirty="0">
              <a:solidFill>
                <a:schemeClr val="tx1"/>
              </a:solidFill>
            </a:endParaRPr>
          </a:p>
          <a:p>
            <a:pPr eaLnBrk="1" hangingPunct="1"/>
            <a:endParaRPr lang="en-US" altLang="ja-JP" sz="24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ja-JP" sz="2400" dirty="0">
                <a:solidFill>
                  <a:schemeClr val="tx1"/>
                </a:solidFill>
              </a:rPr>
              <a:t>2026. 10.8 (</a:t>
            </a:r>
            <a:r>
              <a:rPr lang="ja-JP" altLang="en-US" sz="2400" dirty="0">
                <a:solidFill>
                  <a:schemeClr val="tx1"/>
                </a:solidFill>
              </a:rPr>
              <a:t>木</a:t>
            </a:r>
            <a:r>
              <a:rPr lang="en-US" altLang="ja-JP" sz="2400" dirty="0">
                <a:solidFill>
                  <a:schemeClr val="tx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96166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12AF-FC59-D183-EEEB-275D7609F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2112B3-ED5C-B653-3B3C-EEA0E82239FD}"/>
              </a:ext>
            </a:extLst>
          </p:cNvPr>
          <p:cNvSpPr/>
          <p:nvPr/>
        </p:nvSpPr>
        <p:spPr>
          <a:xfrm>
            <a:off x="2231529" y="2420888"/>
            <a:ext cx="6264696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初発症例の</a:t>
            </a:r>
            <a:r>
              <a:rPr kumimoji="1" lang="en-US" altLang="ja-JP" sz="66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OS</a:t>
            </a:r>
            <a:endParaRPr kumimoji="1" lang="ja-JP" altLang="en-US" sz="66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17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1C232-991E-603B-6EFF-02D7A4E1C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A33DE6-3811-BFE9-77B6-AED6492BA413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OS(pooled/</a:t>
            </a:r>
            <a:r>
              <a:rPr lang="ja-JP" altLang="en-US" dirty="0"/>
              <a:t>起算日：治験登録日</a:t>
            </a:r>
            <a:r>
              <a:rPr lang="en-US" altLang="ja-JP" dirty="0"/>
              <a:t>)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1F38D87-343E-C78B-4FD1-050C102D35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881" y="1124744"/>
            <a:ext cx="7200000" cy="5400000"/>
          </a:xfrm>
          <a:prstGeom prst="rect">
            <a:avLst/>
          </a:prstGeom>
        </p:spPr>
      </p:pic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0AB7A4B5-CA5E-FEDF-F0B8-AB7D86180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585542"/>
              </p:ext>
            </p:extLst>
          </p:nvPr>
        </p:nvGraphicFramePr>
        <p:xfrm>
          <a:off x="7560121" y="417681"/>
          <a:ext cx="2642870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673417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</a:tblGrid>
              <a:tr h="1397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41.4m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(9.1-NE)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55.8%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(38.8-69.8)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41.8%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(26.0-56.9)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8F72B6-D616-D88B-8C60-535A1E911633}"/>
              </a:ext>
            </a:extLst>
          </p:cNvPr>
          <p:cNvSpPr txBox="1"/>
          <p:nvPr/>
        </p:nvSpPr>
        <p:spPr>
          <a:xfrm>
            <a:off x="1151407" y="755412"/>
            <a:ext cx="4896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median follow-up period = 34.3m (range 1.3-57.9)</a:t>
            </a:r>
          </a:p>
        </p:txBody>
      </p:sp>
    </p:spTree>
    <p:extLst>
      <p:ext uri="{BB962C8B-B14F-4D97-AF65-F5344CB8AC3E}">
        <p14:creationId xmlns:p14="http://schemas.microsoft.com/office/powerpoint/2010/main" val="4127483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00FFA-9DC8-64BA-6BE5-240B4D43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9F2DB73-4A85-84E6-AD53-1A7C2113E77E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OS(</a:t>
            </a:r>
            <a:r>
              <a:rPr lang="ja-JP" altLang="en-US" dirty="0"/>
              <a:t>群別</a:t>
            </a:r>
            <a:r>
              <a:rPr lang="en-US" altLang="ja-JP" dirty="0"/>
              <a:t>/</a:t>
            </a:r>
            <a:r>
              <a:rPr lang="ja-JP" altLang="en-US" dirty="0"/>
              <a:t>起算日：治験登録日</a:t>
            </a:r>
            <a:r>
              <a:rPr lang="en-US" altLang="ja-JP" dirty="0"/>
              <a:t>)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7D28796-3B18-38F7-E41B-1C3997D6C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686209"/>
              </p:ext>
            </p:extLst>
          </p:nvPr>
        </p:nvGraphicFramePr>
        <p:xfrm>
          <a:off x="2447553" y="548680"/>
          <a:ext cx="7185976" cy="797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953860678"/>
                    </a:ext>
                  </a:extLst>
                </a:gridCol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1048067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341652598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1270819364"/>
                    </a:ext>
                  </a:extLst>
                </a:gridCol>
                <a:gridCol w="959167">
                  <a:extLst>
                    <a:ext uri="{9D8B030D-6E8A-4147-A177-3AD203B41FA5}">
                      <a16:colId xmlns:a16="http://schemas.microsoft.com/office/drawing/2014/main" val="3481181655"/>
                    </a:ext>
                  </a:extLst>
                </a:gridCol>
              </a:tblGrid>
              <a:tr h="1618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arm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Log-rank p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HR (95%CI)*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P-value of HR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non-CR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8.4m (3.7-22.2)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28.0% (11.2-47.8)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28.0% (11.2-47.8)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0.005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ref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0.048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NE (41.4m-NE)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93.8% (63.2-99.1)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62.5% (34.9-81.1)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0.38 (0.15-0.99)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09781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726D1790-103A-A841-8F83-67EFF577D9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457" y="1413376"/>
            <a:ext cx="7200000" cy="54000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896237B-8D2C-17A8-4041-BACCEF5738A5}"/>
              </a:ext>
            </a:extLst>
          </p:cNvPr>
          <p:cNvSpPr txBox="1"/>
          <p:nvPr/>
        </p:nvSpPr>
        <p:spPr>
          <a:xfrm>
            <a:off x="8814720" y="1313173"/>
            <a:ext cx="1944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en-US" altLang="ja-JP" sz="1050" dirty="0">
                <a:solidFill>
                  <a:schemeClr val="tx1"/>
                </a:solidFill>
              </a:rPr>
              <a:t>*</a:t>
            </a:r>
            <a:r>
              <a:rPr kumimoji="1" lang="ja-JP" altLang="en-US" sz="1050" dirty="0">
                <a:solidFill>
                  <a:schemeClr val="tx1"/>
                </a:solidFill>
              </a:rPr>
              <a:t>時間依存性共変量として解析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11702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D469-1C1C-5DEB-F0E1-AC889ADF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6A5E2A-DD9F-B0FF-0282-419A45380BAC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OS(pooled/</a:t>
            </a:r>
            <a:r>
              <a:rPr lang="ja-JP" altLang="en-US" dirty="0"/>
              <a:t>起算日：</a:t>
            </a:r>
            <a:r>
              <a:rPr lang="en-US" altLang="ja-JP" dirty="0"/>
              <a:t>CRT</a:t>
            </a:r>
            <a:r>
              <a:rPr lang="ja-JP" altLang="en-US" dirty="0"/>
              <a:t>開始日</a:t>
            </a:r>
            <a:r>
              <a:rPr lang="en-US" altLang="ja-JP" dirty="0"/>
              <a:t>)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2FDB39-8180-6195-C34F-8ED96CFAEA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941" y="1107280"/>
            <a:ext cx="7200000" cy="5400000"/>
          </a:xfrm>
          <a:prstGeom prst="rect">
            <a:avLst/>
          </a:prstGeom>
        </p:spPr>
      </p:pic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2EE86C05-87CB-7575-3176-022761FD0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82027"/>
              </p:ext>
            </p:extLst>
          </p:nvPr>
        </p:nvGraphicFramePr>
        <p:xfrm>
          <a:off x="7560121" y="417681"/>
          <a:ext cx="2692083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722630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</a:tblGrid>
              <a:tr h="1397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43.6m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(10.9-NE)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55.9%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(38.8-69.9)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44.7%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(28.5-59.6)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20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41D25-49C6-9720-6E6C-6D32326A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BF1FEE-8A18-E9E6-219D-DBAB20833640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OS(</a:t>
            </a:r>
            <a:r>
              <a:rPr lang="ja-JP" altLang="en-US" dirty="0"/>
              <a:t>群別</a:t>
            </a:r>
            <a:r>
              <a:rPr lang="en-US" altLang="ja-JP" dirty="0"/>
              <a:t>/</a:t>
            </a:r>
            <a:r>
              <a:rPr lang="ja-JP" altLang="en-US" dirty="0"/>
              <a:t>起算日：</a:t>
            </a:r>
            <a:r>
              <a:rPr lang="en-US" altLang="ja-JP" dirty="0"/>
              <a:t> CRT</a:t>
            </a:r>
            <a:r>
              <a:rPr lang="ja-JP" altLang="en-US" dirty="0"/>
              <a:t>開始日</a:t>
            </a:r>
            <a:r>
              <a:rPr lang="en-US" altLang="ja-JP" dirty="0"/>
              <a:t>)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60C6F6EA-F3D6-79B4-1AFD-F38F7C045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316923"/>
              </p:ext>
            </p:extLst>
          </p:nvPr>
        </p:nvGraphicFramePr>
        <p:xfrm>
          <a:off x="2447553" y="548680"/>
          <a:ext cx="7254239" cy="797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953860678"/>
                    </a:ext>
                  </a:extLst>
                </a:gridCol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341652598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1270819364"/>
                    </a:ext>
                  </a:extLst>
                </a:gridCol>
                <a:gridCol w="959167">
                  <a:extLst>
                    <a:ext uri="{9D8B030D-6E8A-4147-A177-3AD203B41FA5}">
                      <a16:colId xmlns:a16="http://schemas.microsoft.com/office/drawing/2014/main" val="3481181655"/>
                    </a:ext>
                  </a:extLst>
                </a:gridCol>
              </a:tblGrid>
              <a:tr h="1618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arm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48m-OS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Log-rank p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HR (95%CI)*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P-value of HR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non-CR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10.3m (6.4-24.2)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28.1% (11.2-47.9)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28.1% (11.2-47.9)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0.005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ref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0.044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NE (43.6m-NE)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93.8% (63.2-99.1)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68.8% (40.5-85.6)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0.38 (0.15-0.97)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09781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03CA2BF-F652-D926-A90F-4B588AF40BDB}"/>
              </a:ext>
            </a:extLst>
          </p:cNvPr>
          <p:cNvSpPr txBox="1"/>
          <p:nvPr/>
        </p:nvSpPr>
        <p:spPr>
          <a:xfrm>
            <a:off x="8814720" y="1313173"/>
            <a:ext cx="1944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en-US" altLang="ja-JP" sz="1050" dirty="0">
                <a:solidFill>
                  <a:schemeClr val="tx1"/>
                </a:solidFill>
              </a:rPr>
              <a:t>*</a:t>
            </a:r>
            <a:r>
              <a:rPr kumimoji="1" lang="ja-JP" altLang="en-US" sz="1050" dirty="0">
                <a:solidFill>
                  <a:schemeClr val="tx1"/>
                </a:solidFill>
              </a:rPr>
              <a:t>時間依存性共変量として解析</a:t>
            </a:r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23E3B38-884B-B7D3-A560-A11867475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457" y="1412776"/>
            <a:ext cx="720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35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95C4B-C81D-B93E-9B7B-CF6A5937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775AA1B-2E67-5E65-B4F5-751A61CC5044}"/>
              </a:ext>
            </a:extLst>
          </p:cNvPr>
          <p:cNvSpPr/>
          <p:nvPr/>
        </p:nvSpPr>
        <p:spPr>
          <a:xfrm>
            <a:off x="2231529" y="2420888"/>
            <a:ext cx="6264696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初発症例の</a:t>
            </a:r>
            <a:r>
              <a:rPr lang="en-US" altLang="ja-JP" sz="66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PFS</a:t>
            </a:r>
            <a:endParaRPr kumimoji="1" lang="ja-JP" altLang="en-US" sz="6600" b="1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840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67E3-C981-F058-AE9E-91B77591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437FFFD-0A10-E210-F872-F7741CD001E6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PFS(pooled/</a:t>
            </a:r>
            <a:r>
              <a:rPr lang="ja-JP" altLang="en-US" dirty="0"/>
              <a:t>起算日：治験登録日</a:t>
            </a:r>
            <a:r>
              <a:rPr lang="en-US" altLang="ja-JP" dirty="0"/>
              <a:t>)</a:t>
            </a: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8D932549-22CE-6788-52E8-5662874A5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81180"/>
              </p:ext>
            </p:extLst>
          </p:nvPr>
        </p:nvGraphicFramePr>
        <p:xfrm>
          <a:off x="7560121" y="417681"/>
          <a:ext cx="2574607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673417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</a:tblGrid>
              <a:tr h="1397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3.2m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(2.4-8.9)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23.5%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(11.5-37.8)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20.5%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(9.4-34.7)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</a:tbl>
          </a:graphicData>
        </a:graphic>
      </p:graphicFrame>
      <p:pic>
        <p:nvPicPr>
          <p:cNvPr id="4" name="図 3">
            <a:extLst>
              <a:ext uri="{FF2B5EF4-FFF2-40B4-BE49-F238E27FC236}">
                <a16:creationId xmlns:a16="http://schemas.microsoft.com/office/drawing/2014/main" id="{5608E963-ECF3-62BC-EAB9-1F4BD3E58F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293" y="1124744"/>
            <a:ext cx="720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774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33F8-DBC1-9BC1-5FDD-30945ECBC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C1B82D-27B4-E9DA-81FC-F1E299568327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PFS(</a:t>
            </a:r>
            <a:r>
              <a:rPr lang="ja-JP" altLang="en-US" dirty="0"/>
              <a:t>群別</a:t>
            </a:r>
            <a:r>
              <a:rPr lang="en-US" altLang="ja-JP" dirty="0"/>
              <a:t>/</a:t>
            </a:r>
            <a:r>
              <a:rPr lang="ja-JP" altLang="en-US" dirty="0"/>
              <a:t>起算日：治験登録日</a:t>
            </a:r>
            <a:r>
              <a:rPr lang="en-US" altLang="ja-JP" dirty="0"/>
              <a:t>)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9689AAC2-369D-144F-E795-82E48A784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09863"/>
              </p:ext>
            </p:extLst>
          </p:nvPr>
        </p:nvGraphicFramePr>
        <p:xfrm>
          <a:off x="2447553" y="548680"/>
          <a:ext cx="7254239" cy="797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953860678"/>
                    </a:ext>
                  </a:extLst>
                </a:gridCol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341652598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1270819364"/>
                    </a:ext>
                  </a:extLst>
                </a:gridCol>
                <a:gridCol w="959167">
                  <a:extLst>
                    <a:ext uri="{9D8B030D-6E8A-4147-A177-3AD203B41FA5}">
                      <a16:colId xmlns:a16="http://schemas.microsoft.com/office/drawing/2014/main" val="3481181655"/>
                    </a:ext>
                  </a:extLst>
                </a:gridCol>
              </a:tblGrid>
              <a:tr h="1618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arm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Log-rank p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HR (95%CI)*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P-value of HR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non-CR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2.3m (1.8-3.0)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4.6% (0.3-19.1)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4.6% (0.3-19.1)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&lt;0.001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ref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0.063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36.0m (8.9-NE)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49.2% (23.6-70.6)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42.2% (18.1-64.6)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0.39 (0.15-1.05)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09781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9EE2135-4743-86DC-C654-BE6E79196A1D}"/>
              </a:ext>
            </a:extLst>
          </p:cNvPr>
          <p:cNvSpPr txBox="1"/>
          <p:nvPr/>
        </p:nvSpPr>
        <p:spPr>
          <a:xfrm>
            <a:off x="8814720" y="1313173"/>
            <a:ext cx="1944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en-US" altLang="ja-JP" sz="1050" dirty="0">
                <a:solidFill>
                  <a:schemeClr val="tx1"/>
                </a:solidFill>
              </a:rPr>
              <a:t>*</a:t>
            </a:r>
            <a:r>
              <a:rPr kumimoji="1" lang="ja-JP" altLang="en-US" sz="1050" dirty="0">
                <a:solidFill>
                  <a:schemeClr val="tx1"/>
                </a:solidFill>
              </a:rPr>
              <a:t>時間依存性共変量として解析</a:t>
            </a:r>
            <a:endParaRPr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9E67370-543D-63A0-4BEE-B259B7218D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73" y="1440131"/>
            <a:ext cx="720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4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6A835-0C87-0E45-AE34-48912987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7BAC14-D70C-668F-E1F5-A00AE71AB0DB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PFS(pooled/</a:t>
            </a:r>
            <a:r>
              <a:rPr lang="ja-JP" altLang="en-US" dirty="0"/>
              <a:t>起算日：</a:t>
            </a:r>
            <a:r>
              <a:rPr lang="en-US" altLang="ja-JP" dirty="0"/>
              <a:t>CRT</a:t>
            </a:r>
            <a:r>
              <a:rPr lang="ja-JP" altLang="en-US" dirty="0"/>
              <a:t>開始日</a:t>
            </a:r>
            <a:r>
              <a:rPr lang="en-US" altLang="ja-JP" dirty="0"/>
              <a:t>)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0AD24808-48D0-C2A4-2EF0-727C0FEE8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461945"/>
              </p:ext>
            </p:extLst>
          </p:nvPr>
        </p:nvGraphicFramePr>
        <p:xfrm>
          <a:off x="7560121" y="417681"/>
          <a:ext cx="2642870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809943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</a:tblGrid>
              <a:tr h="13978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5.6m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(4.6-11.6)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26.6%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(13.8-41.1)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20.7%</a:t>
                      </a: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(9.5-34.8)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</a:tbl>
          </a:graphicData>
        </a:graphic>
      </p:graphicFrame>
      <p:pic>
        <p:nvPicPr>
          <p:cNvPr id="5" name="図 4">
            <a:extLst>
              <a:ext uri="{FF2B5EF4-FFF2-40B4-BE49-F238E27FC236}">
                <a16:creationId xmlns:a16="http://schemas.microsoft.com/office/drawing/2014/main" id="{841BCC52-6291-FE59-2FCF-ECE8479264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556" y="1196752"/>
            <a:ext cx="720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55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A80A-C60D-FD5C-8322-7CF2D7527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C95D5A7-BCA6-267E-C510-BBA509E02097}"/>
              </a:ext>
            </a:extLst>
          </p:cNvPr>
          <p:cNvSpPr txBox="1"/>
          <p:nvPr/>
        </p:nvSpPr>
        <p:spPr>
          <a:xfrm>
            <a:off x="1151408" y="116632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PFS(</a:t>
            </a:r>
            <a:r>
              <a:rPr lang="ja-JP" altLang="en-US" dirty="0"/>
              <a:t>群別</a:t>
            </a:r>
            <a:r>
              <a:rPr lang="en-US" altLang="ja-JP" dirty="0"/>
              <a:t>/</a:t>
            </a:r>
            <a:r>
              <a:rPr lang="ja-JP" altLang="en-US" dirty="0"/>
              <a:t>起算日：</a:t>
            </a:r>
            <a:r>
              <a:rPr lang="en-US" altLang="ja-JP" dirty="0"/>
              <a:t> CRT</a:t>
            </a:r>
            <a:r>
              <a:rPr lang="ja-JP" altLang="en-US" dirty="0"/>
              <a:t>開始日</a:t>
            </a:r>
            <a:r>
              <a:rPr lang="en-US" altLang="ja-JP" dirty="0"/>
              <a:t>)</a:t>
            </a: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3A7B0BFC-1964-246B-1A0D-F395DD15D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80008"/>
              </p:ext>
            </p:extLst>
          </p:nvPr>
        </p:nvGraphicFramePr>
        <p:xfrm>
          <a:off x="2447553" y="548680"/>
          <a:ext cx="7322502" cy="797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8330">
                  <a:extLst>
                    <a:ext uri="{9D8B030D-6E8A-4147-A177-3AD203B41FA5}">
                      <a16:colId xmlns:a16="http://schemas.microsoft.com/office/drawing/2014/main" val="953860678"/>
                    </a:ext>
                  </a:extLst>
                </a:gridCol>
                <a:gridCol w="349567">
                  <a:extLst>
                    <a:ext uri="{9D8B030D-6E8A-4147-A177-3AD203B41FA5}">
                      <a16:colId xmlns:a16="http://schemas.microsoft.com/office/drawing/2014/main" val="3333819809"/>
                    </a:ext>
                  </a:extLst>
                </a:gridCol>
                <a:gridCol w="1184593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341652598"/>
                    </a:ext>
                  </a:extLst>
                </a:gridCol>
                <a:gridCol w="1078230">
                  <a:extLst>
                    <a:ext uri="{9D8B030D-6E8A-4147-A177-3AD203B41FA5}">
                      <a16:colId xmlns:a16="http://schemas.microsoft.com/office/drawing/2014/main" val="1270819364"/>
                    </a:ext>
                  </a:extLst>
                </a:gridCol>
                <a:gridCol w="959167">
                  <a:extLst>
                    <a:ext uri="{9D8B030D-6E8A-4147-A177-3AD203B41FA5}">
                      <a16:colId xmlns:a16="http://schemas.microsoft.com/office/drawing/2014/main" val="3481181655"/>
                    </a:ext>
                  </a:extLst>
                </a:gridCol>
              </a:tblGrid>
              <a:tr h="161842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arm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median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36m-PFS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48m-PFS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Log-rank p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HR (95%CI)*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P-value of HR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22534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non-CR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4.4m (3.9-5.0)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4.7% (0.3-19.5)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4.7% (0.3-19.5)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&lt;0.001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ref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0.064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CR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37.9m (11.6-NE)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56.3% (29.5-76.2)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42.2% (18.1-64.6)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0.39 (0.15-1.06)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809781"/>
                  </a:ext>
                </a:extLst>
              </a:tr>
            </a:tbl>
          </a:graphicData>
        </a:graphic>
      </p:graphicFrame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A83F43-8F9B-FCA1-1243-20313AD9F081}"/>
              </a:ext>
            </a:extLst>
          </p:cNvPr>
          <p:cNvSpPr txBox="1"/>
          <p:nvPr/>
        </p:nvSpPr>
        <p:spPr>
          <a:xfrm>
            <a:off x="8814720" y="1313173"/>
            <a:ext cx="194421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1" lang="en-US" altLang="ja-JP" sz="1050" dirty="0">
                <a:solidFill>
                  <a:schemeClr val="tx1"/>
                </a:solidFill>
              </a:rPr>
              <a:t>*</a:t>
            </a:r>
            <a:r>
              <a:rPr kumimoji="1" lang="ja-JP" altLang="en-US" sz="1050" dirty="0">
                <a:solidFill>
                  <a:schemeClr val="tx1"/>
                </a:solidFill>
              </a:rPr>
              <a:t>時間依存性共変量として解析</a:t>
            </a:r>
            <a:endParaRPr lang="ja-JP" altLang="en-US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3390724-8FD2-1AA3-82B8-81C6031645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73" y="1458000"/>
            <a:ext cx="720000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089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B080A-AE1D-25B8-65C5-6F814DF3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F4E63FA-5DA3-1A74-7E6B-631834E7E29B}"/>
              </a:ext>
            </a:extLst>
          </p:cNvPr>
          <p:cNvSpPr/>
          <p:nvPr/>
        </p:nvSpPr>
        <p:spPr>
          <a:xfrm>
            <a:off x="2231529" y="2420888"/>
            <a:ext cx="6264696" cy="15121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600" b="1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後治療</a:t>
            </a:r>
          </a:p>
        </p:txBody>
      </p:sp>
    </p:spTree>
    <p:extLst>
      <p:ext uri="{BB962C8B-B14F-4D97-AF65-F5344CB8AC3E}">
        <p14:creationId xmlns:p14="http://schemas.microsoft.com/office/powerpoint/2010/main" val="3003127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5F118-86CF-65A2-8780-12FA834D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AF4AAE-5006-A204-8426-5C556B5B8A4D}"/>
              </a:ext>
            </a:extLst>
          </p:cNvPr>
          <p:cNvSpPr txBox="1"/>
          <p:nvPr/>
        </p:nvSpPr>
        <p:spPr>
          <a:xfrm>
            <a:off x="575345" y="148590"/>
            <a:ext cx="449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後治療施行割合</a:t>
            </a:r>
            <a:endParaRPr lang="en-US" altLang="ja-JP" dirty="0"/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219EB351-31BF-D600-6007-ABC9390C4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147739"/>
              </p:ext>
            </p:extLst>
          </p:nvPr>
        </p:nvGraphicFramePr>
        <p:xfrm>
          <a:off x="3488689" y="1916832"/>
          <a:ext cx="3877946" cy="1776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6493">
                  <a:extLst>
                    <a:ext uri="{9D8B030D-6E8A-4147-A177-3AD203B41FA5}">
                      <a16:colId xmlns:a16="http://schemas.microsoft.com/office/drawing/2014/main" val="138030497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288657271"/>
                    </a:ext>
                  </a:extLst>
                </a:gridCol>
                <a:gridCol w="1146493">
                  <a:extLst>
                    <a:ext uri="{9D8B030D-6E8A-4147-A177-3AD203B41FA5}">
                      <a16:colId xmlns:a16="http://schemas.microsoft.com/office/drawing/2014/main" val="1499739927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1577222668"/>
                    </a:ext>
                  </a:extLst>
                </a:gridCol>
              </a:tblGrid>
              <a:tr h="272996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All (n=40)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増悪例 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(n=28)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2359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後治療施行有無</a:t>
                      </a:r>
                      <a:endParaRPr kumimoji="1" lang="en-US" altLang="ja-JP" sz="105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化学療法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21 (52.5%)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後治療施行有無</a:t>
                      </a:r>
                      <a:endParaRPr kumimoji="1" lang="en-US" altLang="ja-JP" sz="1050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化学療法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21 (75.0%)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297987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FU</a:t>
                      </a: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17 (42.5%)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FU</a:t>
                      </a:r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ＭＳ Ｐゴシック" panose="020B0600070205080204" pitchFamily="50" charset="-128"/>
                          <a:cs typeface="+mn-cs"/>
                        </a:rPr>
                        <a:t>17 (60.7%)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33175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プラチナ系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18 (45.0%)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プラチナ系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ＭＳ Ｐゴシック" panose="020B0600070205080204" pitchFamily="50" charset="-128"/>
                          <a:cs typeface="+mn-cs"/>
                        </a:rPr>
                        <a:t>18 (64.3%)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955504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タキサン系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15 (37.5%)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タキサン系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ＭＳ Ｐゴシック" panose="020B0600070205080204" pitchFamily="50" charset="-128"/>
                          <a:cs typeface="+mn-cs"/>
                        </a:rPr>
                        <a:t>15 (53.6%)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083082"/>
                  </a:ext>
                </a:extLst>
              </a:tr>
              <a:tr h="272996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ICI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5 (12.5%)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 sz="1050" dirty="0">
                          <a:solidFill>
                            <a:schemeClr val="tx1"/>
                          </a:solidFill>
                        </a:rPr>
                        <a:t>　　</a:t>
                      </a:r>
                      <a:r>
                        <a:rPr kumimoji="1" lang="en-US" altLang="ja-JP" sz="1050" dirty="0">
                          <a:solidFill>
                            <a:schemeClr val="tx1"/>
                          </a:solidFill>
                        </a:rPr>
                        <a:t>ICI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ＭＳ Ｐゴシック" panose="020B0600070205080204" pitchFamily="50" charset="-128"/>
                          <a:cs typeface="+mn-cs"/>
                        </a:rPr>
                        <a:t>5 (17.9%)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745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8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スケッチ ブックのデザイン テンプレート">
  <a:themeElements>
    <a:clrScheme name="スケッチ ブックのデザイン テンプレー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スケッチ ブックのデザイン テンプレート">
      <a:majorFont>
        <a:latin typeface="Comic Sans MS"/>
        <a:ea typeface="HG丸ｺﾞｼｯｸM-PRO"/>
        <a:cs typeface=""/>
      </a:majorFont>
      <a:minorFont>
        <a:latin typeface="Comic Sans MS"/>
        <a:ea typeface="HG丸ｺﾞｼｯｸM-PR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スケッチ ブックのデザイン テンプレー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スケッチ ブックのデザイン テンプレー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スケッチ ブックのデザイン テンプレー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スケッチ ブックのデザイン テンプレー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スケッチ ブックのデザイン テンプレー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スケッチ ブックのデザイン テンプレー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スケッチ ブックのデザイン テンプレー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スケッチ ブックのデザイン テンプレー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スケッチ ブックのデザイン テンプレー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スケッチ ブックのデザイン テンプレー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スケッチ ブックのデザイン テンプレー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スケッチ ブックのデザイン テンプレー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556</Words>
  <Application>Microsoft Office PowerPoint</Application>
  <PresentationFormat>ユーザー設定</PresentationFormat>
  <Paragraphs>180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13</vt:i4>
      </vt:variant>
    </vt:vector>
  </HeadingPairs>
  <TitlesOfParts>
    <vt:vector size="21" baseType="lpstr">
      <vt:lpstr>メイリオ</vt:lpstr>
      <vt:lpstr>游ゴシック</vt:lpstr>
      <vt:lpstr>Arial</vt:lpstr>
      <vt:lpstr>Calibri</vt:lpstr>
      <vt:lpstr>Century</vt:lpstr>
      <vt:lpstr>Comic Sans MS</vt:lpstr>
      <vt:lpstr>Office ​​テーマ</vt:lpstr>
      <vt:lpstr>スケッチ ブックのデザイン テンプレート</vt:lpstr>
      <vt:lpstr>TENERGY 長期follow-upデータ 解析レポート draft3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水澤 純基 J.M.</dc:creator>
  <cp:lastModifiedBy>Masashi WAKABAYASHI</cp:lastModifiedBy>
  <cp:revision>308</cp:revision>
  <dcterms:created xsi:type="dcterms:W3CDTF">2014-08-12T10:48:45Z</dcterms:created>
  <dcterms:modified xsi:type="dcterms:W3CDTF">2026-10-08T00:05:20Z</dcterms:modified>
</cp:coreProperties>
</file>